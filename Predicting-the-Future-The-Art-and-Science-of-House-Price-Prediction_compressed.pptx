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ora Semi Bold"/>
      <p:regular r:id="rId17"/>
    </p:embeddedFont>
    <p:embeddedFont>
      <p:font typeface="Sora Semi Bold"/>
      <p:regular r:id="rId18"/>
    </p:embeddedFont>
    <p:embeddedFont>
      <p:font typeface="Sora Light"/>
      <p:regular r:id="rId19"/>
    </p:embeddedFont>
    <p:embeddedFont>
      <p:font typeface="Sora Ligh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536508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Predicting the Future: The Art and Science of House Price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99955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Where machine learning meets real estate — unlocking smarter decisions for buyers, sellers, and investors alike.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98333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Why Predict House Prices?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733675"/>
            <a:ext cx="3705344" cy="2668072"/>
          </a:xfrm>
          <a:prstGeom prst="roundRect">
            <a:avLst>
              <a:gd name="adj" fmla="val 341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295787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Market Stability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3444002"/>
            <a:ext cx="3256955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Accurate predictions underpin real estate markets, mortgage lending decisions, and urban development planning.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228" y="2733675"/>
            <a:ext cx="3705463" cy="2668072"/>
          </a:xfrm>
          <a:prstGeom prst="roundRect">
            <a:avLst>
              <a:gd name="adj" fmla="val 341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04423" y="295787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Personal Finance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04423" y="3444002"/>
            <a:ext cx="325707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Helps individuals strike the right balance between housing aspirations and realistic budget constraints.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618321"/>
            <a:ext cx="7627382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504" y="5842516"/>
            <a:ext cx="297441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Investment Strategy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504" y="6328648"/>
            <a:ext cx="71789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Empowers investors and developers with data-driven confidence to identify undervalued opportunities.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110" y="1037153"/>
            <a:ext cx="8448913" cy="47876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22512" y="971788"/>
            <a:ext cx="4328398" cy="1937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The Foundation: Learning from the Past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9622512" y="3087410"/>
            <a:ext cx="4328398" cy="897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Machine learning models are trained on rich historical housing data — the more they see, the smarter they become.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622512" y="4185523"/>
            <a:ext cx="4328398" cy="1682472"/>
          </a:xfrm>
          <a:prstGeom prst="roundRect">
            <a:avLst>
              <a:gd name="adj" fmla="val 4902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846" y="4472464"/>
            <a:ext cx="245388" cy="1963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60568" y="4412456"/>
            <a:ext cx="3494008" cy="1197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Just as a seasoned agent draws on years of experience, a model draws on millions of data points to price a home.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7110" y="6268283"/>
            <a:ext cx="4300061" cy="1167289"/>
          </a:xfrm>
          <a:prstGeom prst="roundRect">
            <a:avLst>
              <a:gd name="adj" fmla="val 9400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64250" y="6268283"/>
            <a:ext cx="91440" cy="1167289"/>
          </a:xfrm>
          <a:prstGeom prst="roundRect">
            <a:avLst>
              <a:gd name="adj" fmla="val 90187"/>
            </a:avLst>
          </a:prstGeom>
          <a:solidFill>
            <a:srgbClr val="DA1B2E"/>
          </a:solidFill>
          <a:ln/>
        </p:spPr>
      </p:sp>
      <p:sp>
        <p:nvSpPr>
          <p:cNvPr id="10" name="Text 6"/>
          <p:cNvSpPr/>
          <p:nvPr/>
        </p:nvSpPr>
        <p:spPr>
          <a:xfrm>
            <a:off x="974884" y="6487478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Physical Attributes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74884" y="6917055"/>
            <a:ext cx="3793093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Size, age, rooms, condition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165050" y="6268283"/>
            <a:ext cx="4300180" cy="1167289"/>
          </a:xfrm>
          <a:prstGeom prst="roundRect">
            <a:avLst>
              <a:gd name="adj" fmla="val 9400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142190" y="6268283"/>
            <a:ext cx="91440" cy="1167289"/>
          </a:xfrm>
          <a:prstGeom prst="roundRect">
            <a:avLst>
              <a:gd name="adj" fmla="val 90187"/>
            </a:avLst>
          </a:prstGeom>
          <a:solidFill>
            <a:srgbClr val="DA1B2E"/>
          </a:solidFill>
          <a:ln/>
        </p:spPr>
      </p:sp>
      <p:sp>
        <p:nvSpPr>
          <p:cNvPr id="14" name="Text 10"/>
          <p:cNvSpPr/>
          <p:nvPr/>
        </p:nvSpPr>
        <p:spPr>
          <a:xfrm>
            <a:off x="5452824" y="6487478"/>
            <a:ext cx="3271480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Neighborhood Influence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452824" y="6917055"/>
            <a:ext cx="3793212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Schools, amenities, crime rates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9643110" y="6268283"/>
            <a:ext cx="4300061" cy="1167289"/>
          </a:xfrm>
          <a:prstGeom prst="roundRect">
            <a:avLst>
              <a:gd name="adj" fmla="val 9400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20250" y="6268283"/>
            <a:ext cx="91440" cy="1167289"/>
          </a:xfrm>
          <a:prstGeom prst="roundRect">
            <a:avLst>
              <a:gd name="adj" fmla="val 90187"/>
            </a:avLst>
          </a:prstGeom>
          <a:solidFill>
            <a:srgbClr val="DA1B2E"/>
          </a:solidFill>
          <a:ln/>
        </p:spPr>
      </p:sp>
      <p:sp>
        <p:nvSpPr>
          <p:cNvPr id="18" name="Text 14"/>
          <p:cNvSpPr/>
          <p:nvPr/>
        </p:nvSpPr>
        <p:spPr>
          <a:xfrm>
            <a:off x="9930884" y="6487478"/>
            <a:ext cx="2736652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Economic Indicators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9930884" y="6917055"/>
            <a:ext cx="3793093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Interest rates, market trends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323" y="631507"/>
            <a:ext cx="13262253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Evolving Algorithms: From Simple to Sophisticated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675323" y="1609844"/>
            <a:ext cx="13279755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House price prediction has evolved dramatically — from straightforward statistical methods to powerful ensemble learning.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1698" y="2094905"/>
            <a:ext cx="10327005" cy="472630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0677" y="3274936"/>
            <a:ext cx="663975" cy="6639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9117" y="5688901"/>
            <a:ext cx="1938808" cy="393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MLP</a:t>
            </a:r>
            <a:endParaRPr lang="en-US" sz="2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9906" y="3276181"/>
            <a:ext cx="663976" cy="6639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5689" y="5492406"/>
            <a:ext cx="1938807" cy="78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Random Forest</a:t>
            </a:r>
            <a:endParaRPr lang="en-US" sz="24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9757" y="3276181"/>
            <a:ext cx="663975" cy="6639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85539" y="5688901"/>
            <a:ext cx="1938808" cy="393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SVM</a:t>
            </a:r>
            <a:endParaRPr lang="en-US" sz="2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46328" y="3276181"/>
            <a:ext cx="663975" cy="6639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702272" y="5688901"/>
            <a:ext cx="1938807" cy="393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Linear</a:t>
            </a:r>
            <a:endParaRPr lang="en-US" sz="2450" dirty="0"/>
          </a:p>
        </p:txBody>
      </p:sp>
      <p:sp>
        <p:nvSpPr>
          <p:cNvPr id="13" name="Text 6"/>
          <p:cNvSpPr/>
          <p:nvPr/>
        </p:nvSpPr>
        <p:spPr>
          <a:xfrm>
            <a:off x="675323" y="7014448"/>
            <a:ext cx="13279755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generation of algorithms better captures the complex, non-linear relationships between property features and final sale prices — increasing accuracy and generalizability.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3067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The Champion: </a:t>
            </a:r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DA1B2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XGBoost</a:t>
            </a:r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 Takes the Lead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2381012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Among all competing algorithms,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XGBoost (Extreme Gradient Boosting)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consistently emerges as the top performer in house price prediction research.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3664863"/>
            <a:ext cx="7627382" cy="3934063"/>
          </a:xfrm>
          <a:prstGeom prst="roundRect">
            <a:avLst>
              <a:gd name="adj" fmla="val 2313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5929" y="3672483"/>
            <a:ext cx="3806071" cy="2306122"/>
          </a:xfrm>
          <a:prstGeom prst="roundRect">
            <a:avLst>
              <a:gd name="adj" fmla="val 3946"/>
            </a:avLst>
          </a:prstGeom>
          <a:solidFill>
            <a:srgbClr val="F9D2D6"/>
          </a:solidFill>
          <a:ln/>
        </p:spPr>
      </p:sp>
      <p:sp>
        <p:nvSpPr>
          <p:cNvPr id="7" name="Text 4"/>
          <p:cNvSpPr/>
          <p:nvPr/>
        </p:nvSpPr>
        <p:spPr>
          <a:xfrm>
            <a:off x="982504" y="38890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Superior Accuracy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82504" y="4375190"/>
            <a:ext cx="337292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Outperforms Random Forest, SVR, and Linear Regression across multiple benchmark datasets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2000" y="3672483"/>
            <a:ext cx="3806071" cy="2306122"/>
          </a:xfrm>
          <a:prstGeom prst="rect">
            <a:avLst/>
          </a:prstGeom>
          <a:solidFill>
            <a:srgbClr val="F9D2D6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3672483"/>
            <a:ext cx="30480" cy="2306122"/>
          </a:xfrm>
          <a:prstGeom prst="roundRect">
            <a:avLst>
              <a:gd name="adj" fmla="val 298550"/>
            </a:avLst>
          </a:prstGeom>
          <a:solidFill>
            <a:srgbClr val="DFB8BC"/>
          </a:solidFill>
          <a:ln/>
        </p:spPr>
      </p:sp>
      <p:sp>
        <p:nvSpPr>
          <p:cNvPr id="11" name="Text 8"/>
          <p:cNvSpPr/>
          <p:nvPr/>
        </p:nvSpPr>
        <p:spPr>
          <a:xfrm>
            <a:off x="4788575" y="3889058"/>
            <a:ext cx="287345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Feature Importance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88575" y="4375190"/>
            <a:ext cx="337292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Clearly identifies which variables — size, location, age — drive housing costs most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5929" y="5978604"/>
            <a:ext cx="7612142" cy="1612702"/>
          </a:xfrm>
          <a:prstGeom prst="rect">
            <a:avLst/>
          </a:prstGeom>
          <a:solidFill>
            <a:srgbClr val="F9D2D6"/>
          </a:solidFill>
          <a:ln/>
        </p:spPr>
      </p:sp>
      <p:sp>
        <p:nvSpPr>
          <p:cNvPr id="14" name="Shape 11"/>
          <p:cNvSpPr/>
          <p:nvPr/>
        </p:nvSpPr>
        <p:spPr>
          <a:xfrm>
            <a:off x="765929" y="5978604"/>
            <a:ext cx="7612142" cy="30480"/>
          </a:xfrm>
          <a:prstGeom prst="roundRect">
            <a:avLst>
              <a:gd name="adj" fmla="val 298550"/>
            </a:avLst>
          </a:prstGeom>
          <a:solidFill>
            <a:srgbClr val="DFB8BC"/>
          </a:solidFill>
          <a:ln/>
        </p:spPr>
      </p:sp>
      <p:sp>
        <p:nvSpPr>
          <p:cNvPr id="15" name="Text 12"/>
          <p:cNvSpPr/>
          <p:nvPr/>
        </p:nvSpPr>
        <p:spPr>
          <a:xfrm>
            <a:off x="982504" y="619517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Robust &amp; Scalable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82504" y="6681311"/>
            <a:ext cx="71789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Handles missing data, noise, and large datasets with exceptional resilience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05057"/>
            <a:ext cx="1116996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Real-World Datasets and Applications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55103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Researchers have validated house price prediction models across diverse global markets and datasets.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141464"/>
            <a:ext cx="1353145" cy="836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42485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Ames City, Iowa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4734639"/>
            <a:ext cx="30753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benchmark dataset widely used to compare and validate ML algorithms side-by-side.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442" y="3141464"/>
            <a:ext cx="1353145" cy="8362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04442" y="4248507"/>
            <a:ext cx="307538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Global Purchase Dataset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04442" y="5090874"/>
            <a:ext cx="307538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200,000 entries across 27 features, classifying properties into Low, Medium, and High price tiers.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574" y="3141464"/>
            <a:ext cx="1353145" cy="8362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0574" y="42485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California Housing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50574" y="4734639"/>
            <a:ext cx="30753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foundational dataset used for building and testing end-to-end prediction pipelines step by step.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707" y="3141464"/>
            <a:ext cx="1353145" cy="8362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96707" y="4248507"/>
            <a:ext cx="301430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Pakistani Real Estate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96707" y="4734639"/>
            <a:ext cx="30753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RandomForest model trained on local market data achieved an impressive R² score of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0.9133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69720"/>
            <a:ext cx="629257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Feature Engineering: Adding Predictive Power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924419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Raw data alone isn't enough. Feature engineering transforms existing variables into richer signals that dramatically improve model accuracy.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5159454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Location attributes — country, city, district — and total property area consistently rank as the most influential predictors of final sale price.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1569720"/>
            <a:ext cx="460652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Engineered Features in Practice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87139" y="2169676"/>
            <a:ext cx="3037999" cy="2486144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34193" y="2416731"/>
            <a:ext cx="25438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Property 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34193" y="2989540"/>
            <a:ext cx="254388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property_age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= 2025 −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constructed_year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841712" y="2169676"/>
            <a:ext cx="3037999" cy="2486144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88767" y="2416731"/>
            <a:ext cx="2543889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Space Efficiency Ratio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088767" y="3345775"/>
            <a:ext cx="254388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rooms_to_bathrooms_ratio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=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rooms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÷ (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bathrooms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+ 1)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7139" y="4872395"/>
            <a:ext cx="6292572" cy="1760339"/>
          </a:xfrm>
          <a:prstGeom prst="roundRect">
            <a:avLst>
              <a:gd name="adj" fmla="val 5169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34193" y="511944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Location Encoding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34193" y="5692259"/>
            <a:ext cx="579846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City and neighborhood encoded as numeric features to capture geographic price premiums.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412081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Beyond Price: Regression vs. Classification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16241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Two complementary approaches serve different prediction needs in the real estate domain.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02218" y="4099560"/>
            <a:ext cx="3861554" cy="2717840"/>
          </a:xfrm>
          <a:prstGeom prst="roundRect">
            <a:avLst>
              <a:gd name="adj" fmla="val 5740"/>
            </a:avLst>
          </a:prstGeom>
          <a:solidFill>
            <a:srgbClr val="DA1B2E"/>
          </a:solidFill>
          <a:ln/>
        </p:spPr>
      </p:sp>
      <p:sp>
        <p:nvSpPr>
          <p:cNvPr id="6" name="Text 3"/>
          <p:cNvSpPr/>
          <p:nvPr/>
        </p:nvSpPr>
        <p:spPr>
          <a:xfrm>
            <a:off x="818793" y="43161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Regression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8793" y="4888944"/>
            <a:ext cx="3428405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Predicts the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exact numerical value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of a property — ideal when precise pricing is required for appraisals, listings, or mortgage assessments.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843939" y="43161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Classification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43939" y="4888944"/>
            <a:ext cx="354937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Categorizes properties into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price tiers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(Low / Medium / High) — useful for market segmentation, affordability analysis, and portfolio sorting.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58616"/>
            <a:ext cx="1034569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The Power of Advanced Techniques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309" y="3404592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0673" y="3404592"/>
            <a:ext cx="297406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Kaggle Competition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70673" y="3890724"/>
            <a:ext cx="337839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"House Prices: Advanced Regression Techniques" challenge has driven breakthrough innovations in feature selection, stacking, and ensemble modeling.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3404592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32183" y="34045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Xplainable.io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32183" y="3890724"/>
            <a:ext cx="337839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Leverages comprehensive feature engineering alongside advanced regression methods to produce interpretable, production-ready predictions.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329" y="3404592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93693" y="3404592"/>
            <a:ext cx="31576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REST API Deployment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493693" y="3890724"/>
            <a:ext cx="337839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Models can be served as live REST APIs using frameworks like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FastAPI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enabling real-time price predictions embedded into any application.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616" y="659249"/>
            <a:ext cx="7674769" cy="138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The Future of House Price Prediction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34616" y="2344817"/>
            <a:ext cx="7674769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 are entering an era where property valuation becomes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instantaneous, accessible, and deeply intelligent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34616" y="3234571"/>
            <a:ext cx="3735705" cy="2569369"/>
          </a:xfrm>
          <a:prstGeom prst="roundRect">
            <a:avLst>
              <a:gd name="adj" fmla="val 19606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2024" y="3451979"/>
            <a:ext cx="2962156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Continuous Learning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52024" y="3919180"/>
            <a:ext cx="3300889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Models improve with every new data point — growing more accurate as markets evolve.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673560" y="3234571"/>
            <a:ext cx="3735824" cy="2569369"/>
          </a:xfrm>
          <a:prstGeom prst="roundRect">
            <a:avLst>
              <a:gd name="adj" fmla="val 19606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0968" y="3451979"/>
            <a:ext cx="3301008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AI-Driven Market Insights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4890968" y="4264462"/>
            <a:ext cx="3301008" cy="132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Predictive analytics will surface emerging trends and hidden investment opportunities before they become obvious.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34616" y="6007179"/>
            <a:ext cx="7674769" cy="1563053"/>
          </a:xfrm>
          <a:prstGeom prst="roundRect">
            <a:avLst>
              <a:gd name="adj" fmla="val 3222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2024" y="6224588"/>
            <a:ext cx="3413879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Democratized Valuation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952024" y="6691789"/>
            <a:ext cx="7239953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Anyone — buyer, seller, or renter — will have instant access to professional-grade property valuations.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2026-04-14T16:43:37Z</dcterms:created>
  <dcterms:modified xsi:type="dcterms:W3CDTF">2026-04-14T16:43:37Z</dcterms:modified>
</cp:coreProperties>
</file>